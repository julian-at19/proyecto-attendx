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h433Y8UW6JSGbcrc6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45651-8DF4-7C13-6E73-CA8E923C8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9904" y="870757"/>
            <a:ext cx="7274351" cy="3409011"/>
          </a:xfrm>
        </p:spPr>
        <p:txBody>
          <a:bodyPr/>
          <a:lstStyle/>
          <a:p>
            <a:pPr algn="ctr"/>
            <a:r>
              <a:rPr lang="es-ES" dirty="0" err="1">
                <a:latin typeface="Bauhaus 93" panose="04030905020B02020C02" pitchFamily="82" charset="0"/>
              </a:rPr>
              <a:t>ATtendx</a:t>
            </a:r>
            <a:endParaRPr lang="es-CO" dirty="0"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184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84676-5A15-4B8A-8FB2-813DE0039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accent4"/>
                </a:solidFill>
              </a:rPr>
              <a:t>Sistema de control de asistencia para a </a:t>
            </a:r>
            <a:r>
              <a:rPr lang="es-ES" dirty="0" err="1">
                <a:solidFill>
                  <a:schemeClr val="accent4"/>
                </a:solidFill>
              </a:rPr>
              <a:t>prendices</a:t>
            </a:r>
            <a:r>
              <a:rPr lang="es-ES" dirty="0">
                <a:solidFill>
                  <a:schemeClr val="accent4"/>
                </a:solidFill>
              </a:rPr>
              <a:t> del </a:t>
            </a:r>
            <a:r>
              <a:rPr lang="es-ES" dirty="0" err="1">
                <a:solidFill>
                  <a:schemeClr val="accent4"/>
                </a:solidFill>
              </a:rPr>
              <a:t>sena</a:t>
            </a:r>
            <a:r>
              <a:rPr lang="es-ES" dirty="0">
                <a:solidFill>
                  <a:schemeClr val="accent4"/>
                </a:solidFill>
              </a:rPr>
              <a:t> me </a:t>
            </a:r>
            <a:r>
              <a:rPr lang="es-ES" dirty="0" err="1">
                <a:solidFill>
                  <a:schemeClr val="accent4"/>
                </a:solidFill>
              </a:rPr>
              <a:t>diante</a:t>
            </a:r>
            <a:r>
              <a:rPr lang="es-ES" dirty="0">
                <a:solidFill>
                  <a:schemeClr val="accent4"/>
                </a:solidFill>
              </a:rPr>
              <a:t>  QR</a:t>
            </a:r>
            <a:endParaRPr lang="es-CO" dirty="0">
              <a:solidFill>
                <a:schemeClr val="accent4"/>
              </a:solidFill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AA0F26F-1C0C-2A3A-AE83-D0D5A68CA2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1741" y="3101009"/>
            <a:ext cx="2339543" cy="204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971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2A951D-EB30-6EFF-980C-0182A9707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INTEGRANTES 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059A0C-87A7-4DE0-4A71-796259158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800" dirty="0">
                <a:latin typeface="Arial Black" panose="020B0A04020102020204" pitchFamily="34" charset="0"/>
              </a:rPr>
              <a:t>Leidy Tatiana vega </a:t>
            </a:r>
          </a:p>
          <a:p>
            <a:pPr marL="0" indent="0" algn="ctr">
              <a:buNone/>
            </a:pPr>
            <a:r>
              <a:rPr lang="es-ES" sz="2800" dirty="0" err="1">
                <a:latin typeface="Arial Black" panose="020B0A04020102020204" pitchFamily="34" charset="0"/>
              </a:rPr>
              <a:t>Edinson</a:t>
            </a:r>
            <a:r>
              <a:rPr lang="es-ES" sz="2800" dirty="0">
                <a:latin typeface="Arial Black" panose="020B0A04020102020204" pitchFamily="34" charset="0"/>
              </a:rPr>
              <a:t> </a:t>
            </a:r>
            <a:r>
              <a:rPr lang="es-ES" sz="2800" dirty="0" err="1">
                <a:latin typeface="Arial Black" panose="020B0A04020102020204" pitchFamily="34" charset="0"/>
              </a:rPr>
              <a:t>fabian</a:t>
            </a:r>
            <a:r>
              <a:rPr lang="es-ES" sz="2800" dirty="0">
                <a:latin typeface="Arial Black" panose="020B0A04020102020204" pitchFamily="34" charset="0"/>
              </a:rPr>
              <a:t> cabrera</a:t>
            </a:r>
          </a:p>
          <a:p>
            <a:pPr marL="0" indent="0" algn="ctr">
              <a:buNone/>
            </a:pPr>
            <a:r>
              <a:rPr lang="es-ES" sz="2800" dirty="0">
                <a:latin typeface="Arial Black" panose="020B0A04020102020204" pitchFamily="34" charset="0"/>
              </a:rPr>
              <a:t>Kevin </a:t>
            </a:r>
            <a:r>
              <a:rPr lang="es-ES" sz="2800" dirty="0" err="1">
                <a:latin typeface="Arial Black" panose="020B0A04020102020204" pitchFamily="34" charset="0"/>
              </a:rPr>
              <a:t>hernan</a:t>
            </a:r>
            <a:r>
              <a:rPr lang="es-ES" sz="2800" dirty="0">
                <a:latin typeface="Arial Black" panose="020B0A04020102020204" pitchFamily="34" charset="0"/>
              </a:rPr>
              <a:t> </a:t>
            </a:r>
            <a:r>
              <a:rPr lang="es-ES" sz="2800" dirty="0" err="1">
                <a:latin typeface="Arial Black" panose="020B0A04020102020204" pitchFamily="34" charset="0"/>
              </a:rPr>
              <a:t>rodriguez</a:t>
            </a:r>
            <a:r>
              <a:rPr lang="es-ES" sz="2800" dirty="0">
                <a:latin typeface="Arial Black" panose="020B0A04020102020204" pitchFamily="34" charset="0"/>
              </a:rPr>
              <a:t> </a:t>
            </a:r>
            <a:r>
              <a:rPr lang="es-ES" sz="2800" dirty="0" err="1">
                <a:latin typeface="Arial Black" panose="020B0A04020102020204" pitchFamily="34" charset="0"/>
              </a:rPr>
              <a:t>orguela</a:t>
            </a:r>
            <a:endParaRPr lang="es-ES" sz="2800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es-ES" sz="2800" dirty="0">
                <a:latin typeface="Arial Black" panose="020B0A04020102020204" pitchFamily="34" charset="0"/>
              </a:rPr>
              <a:t>Juan David </a:t>
            </a:r>
            <a:r>
              <a:rPr lang="es-ES" sz="2800" dirty="0" err="1">
                <a:latin typeface="Arial Black" panose="020B0A04020102020204" pitchFamily="34" charset="0"/>
              </a:rPr>
              <a:t>rodriguez</a:t>
            </a:r>
            <a:r>
              <a:rPr lang="es-ES" sz="2800" dirty="0">
                <a:latin typeface="Arial Black" panose="020B0A04020102020204" pitchFamily="34" charset="0"/>
              </a:rPr>
              <a:t> Ochoa </a:t>
            </a:r>
          </a:p>
          <a:p>
            <a:pPr marL="0" indent="0" algn="ctr">
              <a:buNone/>
            </a:pPr>
            <a:r>
              <a:rPr lang="es-ES" sz="2800" dirty="0" err="1">
                <a:latin typeface="Arial Black" panose="020B0A04020102020204" pitchFamily="34" charset="0"/>
              </a:rPr>
              <a:t>Julian</a:t>
            </a:r>
            <a:r>
              <a:rPr lang="es-ES" sz="2800" dirty="0">
                <a:latin typeface="Arial Black" panose="020B0A04020102020204" pitchFamily="34" charset="0"/>
              </a:rPr>
              <a:t> </a:t>
            </a:r>
            <a:r>
              <a:rPr lang="es-ES" sz="2800" dirty="0" err="1">
                <a:latin typeface="Arial Black" panose="020B0A04020102020204" pitchFamily="34" charset="0"/>
              </a:rPr>
              <a:t>jaiyith</a:t>
            </a:r>
            <a:r>
              <a:rPr lang="es-ES" sz="2800" dirty="0">
                <a:latin typeface="Arial Black" panose="020B0A04020102020204" pitchFamily="34" charset="0"/>
              </a:rPr>
              <a:t> </a:t>
            </a:r>
            <a:r>
              <a:rPr lang="es-ES" sz="2800" dirty="0" err="1">
                <a:latin typeface="Arial Black" panose="020B0A04020102020204" pitchFamily="34" charset="0"/>
              </a:rPr>
              <a:t>avila</a:t>
            </a:r>
            <a:r>
              <a:rPr lang="es-ES" sz="2800" dirty="0">
                <a:latin typeface="Arial Black" panose="020B0A04020102020204" pitchFamily="34" charset="0"/>
              </a:rPr>
              <a:t> torres </a:t>
            </a:r>
          </a:p>
          <a:p>
            <a:pPr marL="0" indent="0" algn="ctr">
              <a:buNone/>
            </a:pPr>
            <a:r>
              <a:rPr lang="es-ES" sz="2800" dirty="0" err="1">
                <a:latin typeface="Arial Black" panose="020B0A04020102020204" pitchFamily="34" charset="0"/>
              </a:rPr>
              <a:t>Jordan</a:t>
            </a:r>
            <a:r>
              <a:rPr lang="es-ES" sz="2800" dirty="0">
                <a:latin typeface="Arial Black" panose="020B0A04020102020204" pitchFamily="34" charset="0"/>
              </a:rPr>
              <a:t> joya</a:t>
            </a:r>
            <a:endParaRPr lang="es-CO" sz="2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527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4B3510-40FB-E56D-C812-7D25A430B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accent4"/>
                </a:solidFill>
                <a:latin typeface="Arial Black" panose="020B0A04020102020204" pitchFamily="34" charset="0"/>
              </a:rPr>
              <a:t>LA PROBLEMÁTICA ACTUAL</a:t>
            </a:r>
            <a:endParaRPr lang="es-CO" dirty="0">
              <a:solidFill>
                <a:schemeClr val="accent4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9A7262-5CD1-DAAC-BAE2-2C1512815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 err="1">
                <a:latin typeface="Arial Black" panose="020B0A04020102020204" pitchFamily="34" charset="0"/>
              </a:rPr>
              <a:t>Metodo</a:t>
            </a:r>
            <a:r>
              <a:rPr lang="es-ES" dirty="0">
                <a:latin typeface="Arial Black" panose="020B0A04020102020204" pitchFamily="34" charset="0"/>
              </a:rPr>
              <a:t> de registro obsoleto ; de pendencia total de plantillas físicas en papel hojas de calculo Excel desintegradas que el instructor maneja de manera manual al inicio de clase </a:t>
            </a:r>
          </a:p>
          <a:p>
            <a:pPr algn="just"/>
            <a:r>
              <a:rPr lang="es-ES" dirty="0">
                <a:latin typeface="Arial Black" panose="020B0A04020102020204" pitchFamily="34" charset="0"/>
              </a:rPr>
              <a:t>Vulnerabilidad de datos ; alta probabilidad de errores , omisiones perdidas de hojas físicas y falta </a:t>
            </a:r>
            <a:r>
              <a:rPr lang="es-ES" dirty="0" err="1">
                <a:latin typeface="Arial Black" panose="020B0A04020102020204" pitchFamily="34" charset="0"/>
              </a:rPr>
              <a:t>totalde</a:t>
            </a:r>
            <a:r>
              <a:rPr lang="es-ES" dirty="0">
                <a:latin typeface="Arial Black" panose="020B0A04020102020204" pitchFamily="34" charset="0"/>
              </a:rPr>
              <a:t> trazabilidad en las justificaciones de inasistencias </a:t>
            </a:r>
          </a:p>
          <a:p>
            <a:pPr algn="just"/>
            <a:r>
              <a:rPr lang="es-ES" dirty="0">
                <a:latin typeface="Arial Black" panose="020B0A04020102020204" pitchFamily="34" charset="0"/>
              </a:rPr>
              <a:t>Riesgo critico reglamentario ; el reglamento del aprendiz estipula la deserción por fallar mas del 15 % de horas o por 3 días consecutivos sin datos agiles , la alerta llega cuando es demasiado tarde </a:t>
            </a:r>
            <a:endParaRPr lang="es-CO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535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D56A33-603F-7108-AAF5-1343859E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accent4"/>
                </a:solidFill>
                <a:latin typeface="Arial Black" panose="020B0A04020102020204" pitchFamily="34" charset="0"/>
              </a:rPr>
              <a:t>CONTEXTO Y PERSONAS AFECTADAS </a:t>
            </a:r>
            <a:endParaRPr lang="es-CO" dirty="0">
              <a:solidFill>
                <a:schemeClr val="accent4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9CC115-40AB-5C11-7BE6-7C4363F61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>
                <a:latin typeface="Arial Black" panose="020B0A04020102020204" pitchFamily="34" charset="0"/>
              </a:rPr>
              <a:t>Actores afectados </a:t>
            </a:r>
          </a:p>
          <a:p>
            <a:r>
              <a:rPr lang="es-ES" dirty="0">
                <a:latin typeface="Arial Black" panose="020B0A04020102020204" pitchFamily="34" charset="0"/>
              </a:rPr>
              <a:t>Aprendices : riesgo de deserción sin previo aviso </a:t>
            </a:r>
          </a:p>
          <a:p>
            <a:r>
              <a:rPr lang="es-ES" dirty="0">
                <a:latin typeface="Arial Black" panose="020B0A04020102020204" pitchFamily="34" charset="0"/>
              </a:rPr>
              <a:t>Instructores : carga operativa alta y tediosa </a:t>
            </a:r>
          </a:p>
          <a:p>
            <a:r>
              <a:rPr lang="es-ES" dirty="0">
                <a:latin typeface="Arial Black" panose="020B0A04020102020204" pitchFamily="34" charset="0"/>
              </a:rPr>
              <a:t>Coordinadores : imposibilidad de auditar eficazmente </a:t>
            </a:r>
          </a:p>
          <a:p>
            <a:r>
              <a:rPr lang="es-ES" dirty="0">
                <a:latin typeface="Arial Black" panose="020B0A04020102020204" pitchFamily="34" charset="0"/>
              </a:rPr>
              <a:t>Bienestar : activación tardía de rutas de contingencia estudiantil</a:t>
            </a:r>
            <a:endParaRPr lang="es-CO" dirty="0">
              <a:latin typeface="Arial Black" panose="020B0A04020102020204" pitchFamily="34" charset="0"/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9B4C59-B372-F84E-6564-E8455B273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r>
              <a:rPr lang="es-ES" dirty="0">
                <a:latin typeface="Arial Black" panose="020B0A04020102020204" pitchFamily="34" charset="0"/>
              </a:rPr>
              <a:t>¿ DONDE OCURRE ?</a:t>
            </a:r>
          </a:p>
          <a:p>
            <a:r>
              <a:rPr lang="es-ES" dirty="0">
                <a:latin typeface="Arial Black" panose="020B0A04020102020204" pitchFamily="34" charset="0"/>
              </a:rPr>
              <a:t>Centro de electricidad y electrónica y telecomunicaciones (CEET ) </a:t>
            </a:r>
            <a:r>
              <a:rPr lang="es-ES" dirty="0" err="1">
                <a:latin typeface="Arial Black" panose="020B0A04020102020204" pitchFamily="34" charset="0"/>
              </a:rPr>
              <a:t>sena</a:t>
            </a:r>
            <a:r>
              <a:rPr lang="es-ES" dirty="0">
                <a:latin typeface="Arial Black" panose="020B0A04020102020204" pitchFamily="34" charset="0"/>
              </a:rPr>
              <a:t> regional nacional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 Black" panose="020B0A04020102020204" pitchFamily="34" charset="0"/>
              </a:rPr>
              <a:t>¿ 	que herramientas se usan ?</a:t>
            </a:r>
          </a:p>
          <a:p>
            <a:r>
              <a:rPr lang="es-ES" dirty="0">
                <a:latin typeface="Arial Black" panose="020B0A04020102020204" pitchFamily="34" charset="0"/>
              </a:rPr>
              <a:t>Plantillas de asistencia impresas, control de firmas físicas y libros de Excel aislados sin automatización </a:t>
            </a:r>
            <a:endParaRPr lang="es-CO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730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3B91DF-7C67-91EF-C455-C656670A4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accent4"/>
                </a:solidFill>
                <a:latin typeface="Arial Black" panose="020B0A04020102020204" pitchFamily="34" charset="0"/>
              </a:rPr>
              <a:t>Impacto y perdida del proceso </a:t>
            </a:r>
            <a:endParaRPr lang="es-CO" dirty="0">
              <a:solidFill>
                <a:schemeClr val="accent4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DE2895-45EA-1DF8-594D-992D89B87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s-ES" dirty="0">
                <a:latin typeface="Arial Black" panose="020B0A04020102020204" pitchFamily="34" charset="0"/>
              </a:rPr>
              <a:t>Perdida </a:t>
            </a:r>
            <a:r>
              <a:rPr lang="es-ES" dirty="0" err="1">
                <a:latin typeface="Arial Black" panose="020B0A04020102020204" pitchFamily="34" charset="0"/>
              </a:rPr>
              <a:t>academica</a:t>
            </a:r>
            <a:r>
              <a:rPr lang="es-ES" dirty="0">
                <a:latin typeface="Arial Black" panose="020B0A04020102020204" pitchFamily="34" charset="0"/>
              </a:rPr>
              <a:t> : deserción prematura y cancelación de matriculas por que las inasistencias .criticas no se detectan a tiempo para corregirlas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ES" dirty="0">
                <a:latin typeface="Arial Black" panose="020B0A04020102020204" pitchFamily="34" charset="0"/>
              </a:rPr>
              <a:t>Perdida de tiempo : cientos de horas operativas invertidas de forma manual por instructores y coordinadores consolidando datos de asistencia al cierre de cada trimestre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ES" dirty="0">
                <a:latin typeface="Arial Black" panose="020B0A04020102020204" pitchFamily="34" charset="0"/>
              </a:rPr>
              <a:t>Perdida institucional : vulnerabilidad documental en auditoria  de calidad debido ala informalidad en la entrega y respaldo  de las Justificaciones medicas o de fuerza mayor </a:t>
            </a:r>
            <a:endParaRPr lang="es-CO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168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DEA650-4D92-CA61-B8DB-4A0582ECB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accent4"/>
                </a:solidFill>
                <a:latin typeface="Arial Black" panose="020B0A04020102020204" pitchFamily="34" charset="0"/>
              </a:rPr>
              <a:t>Pregunta problema </a:t>
            </a:r>
            <a:endParaRPr lang="es-CO" dirty="0">
              <a:solidFill>
                <a:schemeClr val="accent4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FBE661-2300-F82F-AEBA-457212CDC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>
                <a:latin typeface="Arial Black" panose="020B0A04020102020204" pitchFamily="34" charset="0"/>
              </a:rPr>
              <a:t>¿ Como contribuir al mejoramiento del control de asistencia de los aprendices SENA </a:t>
            </a:r>
          </a:p>
          <a:p>
            <a:pPr marL="0" indent="0" algn="just">
              <a:buNone/>
            </a:pPr>
            <a:r>
              <a:rPr lang="es-ES" dirty="0">
                <a:latin typeface="Arial Black" panose="020B0A04020102020204" pitchFamily="34" charset="0"/>
              </a:rPr>
              <a:t>Mediante una solución tecnológica que permita automatizar el registro . Realizar seguimiento en tiempo real . Generar alertas oportunas y gestionar las justificaciones ?</a:t>
            </a:r>
            <a:endParaRPr lang="es-CO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007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22B1AA-9EFD-3BE9-0466-248866320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accent4"/>
                </a:solidFill>
                <a:latin typeface="Arial Black" panose="020B0A04020102020204" pitchFamily="34" charset="0"/>
              </a:rPr>
              <a:t>La solución de ATTENDX y sus objetivos </a:t>
            </a:r>
            <a:endParaRPr lang="es-CO" dirty="0">
              <a:solidFill>
                <a:schemeClr val="accent4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433D55-8D57-2456-92F9-881B91422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s-ES" dirty="0" err="1">
                <a:latin typeface="Arial Black" panose="020B0A04020102020204" pitchFamily="34" charset="0"/>
              </a:rPr>
              <a:t>Obgetivo</a:t>
            </a:r>
            <a:r>
              <a:rPr lang="es-ES" dirty="0">
                <a:latin typeface="Arial Black" panose="020B0A04020102020204" pitchFamily="34" charset="0"/>
              </a:rPr>
              <a:t> general del proyecto : </a:t>
            </a:r>
          </a:p>
          <a:p>
            <a:pPr marL="0" indent="0" algn="just">
              <a:buNone/>
            </a:pPr>
            <a:r>
              <a:rPr lang="es-ES" dirty="0" err="1">
                <a:latin typeface="Arial Black" panose="020B0A04020102020204" pitchFamily="34" charset="0"/>
              </a:rPr>
              <a:t>Desarrolllar</a:t>
            </a:r>
            <a:r>
              <a:rPr lang="es-ES" dirty="0">
                <a:latin typeface="Arial Black" panose="020B0A04020102020204" pitchFamily="34" charset="0"/>
              </a:rPr>
              <a:t> un sistema de control de asistencia automatizada mediante marcación por código QR </a:t>
            </a:r>
          </a:p>
          <a:p>
            <a:pPr marL="0" indent="0" algn="just">
              <a:buNone/>
            </a:pPr>
            <a:r>
              <a:rPr lang="es-ES" dirty="0">
                <a:latin typeface="Arial Black" panose="020B0A04020102020204" pitchFamily="34" charset="0"/>
              </a:rPr>
              <a:t>En un periodo de 12 meses </a:t>
            </a:r>
          </a:p>
          <a:p>
            <a:pPr marL="0" indent="0" algn="just">
              <a:buNone/>
            </a:pPr>
            <a:r>
              <a:rPr lang="es-ES" dirty="0">
                <a:latin typeface="Arial Black" panose="020B0A04020102020204" pitchFamily="34" charset="0"/>
              </a:rPr>
              <a:t>  Metas de impacto directo :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ES" dirty="0">
                <a:latin typeface="Arial Black" panose="020B0A04020102020204" pitchFamily="34" charset="0"/>
              </a:rPr>
              <a:t> reducir en un 30 % los casos de perdida de procesos por inasistencia no detectada a tiempo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ES" dirty="0">
                <a:latin typeface="Arial Black" panose="020B0A04020102020204" pitchFamily="34" charset="0"/>
              </a:rPr>
              <a:t>Disminuir en un 40 % la carga administrativa del instructor asociada al control y digitación de asistencia </a:t>
            </a:r>
            <a:endParaRPr lang="es-CO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59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DA0D892-6241-737B-D199-36BD73F5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accent4"/>
                </a:solidFill>
                <a:latin typeface="Arial Black" panose="020B0A04020102020204" pitchFamily="34" charset="0"/>
              </a:rPr>
              <a:t>Alcance de la plataforma </a:t>
            </a:r>
            <a:endParaRPr lang="es-CO" dirty="0">
              <a:solidFill>
                <a:schemeClr val="accent4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15F0911-0FA0-B5D9-FD1E-2A653AF37C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>
                <a:latin typeface="Arial Black" panose="020B0A04020102020204" pitchFamily="34" charset="0"/>
              </a:rPr>
              <a:t>Inclusiones del sistema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S" dirty="0" err="1">
                <a:latin typeface="Arial Black" panose="020B0A04020102020204" pitchFamily="34" charset="0"/>
              </a:rPr>
              <a:t>Marcacion</a:t>
            </a:r>
            <a:r>
              <a:rPr lang="es-ES" dirty="0">
                <a:latin typeface="Arial Black" panose="020B0A04020102020204" pitchFamily="34" charset="0"/>
              </a:rPr>
              <a:t> rápida por código QR único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S" dirty="0">
                <a:latin typeface="Arial Black" panose="020B0A04020102020204" pitchFamily="34" charset="0"/>
              </a:rPr>
              <a:t>Roles dedicados .Administrador . Instructor .Aprendiz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S" dirty="0">
                <a:latin typeface="Arial Black" panose="020B0A04020102020204" pitchFamily="34" charset="0"/>
              </a:rPr>
              <a:t>Alertas cuando la inasistencia baja del 80 %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S" dirty="0">
                <a:latin typeface="Arial Black" panose="020B0A04020102020204" pitchFamily="34" charset="0"/>
              </a:rPr>
              <a:t>Modulo de justificación digital (Adjuntar excusa medicas ,trabajo 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S" dirty="0" err="1">
                <a:latin typeface="Arial Black" panose="020B0A04020102020204" pitchFamily="34" charset="0"/>
              </a:rPr>
              <a:t>Dashboard</a:t>
            </a:r>
            <a:r>
              <a:rPr lang="es-ES" dirty="0">
                <a:latin typeface="Arial Black" panose="020B0A04020102020204" pitchFamily="34" charset="0"/>
              </a:rPr>
              <a:t> institucional en tiempo real </a:t>
            </a:r>
            <a:endParaRPr lang="es-CO" dirty="0">
              <a:latin typeface="Arial Black" panose="020B0A04020102020204" pitchFamily="34" charset="0"/>
            </a:endParaRP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668355-A2F3-77F2-6FDB-D0955AA3A1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s-ES" dirty="0">
                <a:latin typeface="Arial Black" panose="020B0A04020102020204" pitchFamily="34" charset="0"/>
              </a:rPr>
              <a:t> exclusiones  explicitas </a:t>
            </a:r>
          </a:p>
          <a:p>
            <a:pPr marL="0" indent="0">
              <a:buNone/>
            </a:pPr>
            <a:r>
              <a:rPr lang="es-ES" dirty="0">
                <a:latin typeface="Arial Black" panose="020B0A04020102020204" pitchFamily="34" charset="0"/>
              </a:rPr>
              <a:t>X  integración directa con Sena Sofia Plus </a:t>
            </a:r>
          </a:p>
          <a:p>
            <a:pPr marL="0" indent="0">
              <a:buNone/>
            </a:pPr>
            <a:r>
              <a:rPr lang="es-ES" dirty="0">
                <a:latin typeface="Arial Black" panose="020B0A04020102020204" pitchFamily="34" charset="0"/>
              </a:rPr>
              <a:t>X  </a:t>
            </a:r>
            <a:r>
              <a:rPr lang="es-ES" dirty="0" err="1">
                <a:latin typeface="Arial Black" panose="020B0A04020102020204" pitchFamily="34" charset="0"/>
              </a:rPr>
              <a:t>modulos</a:t>
            </a:r>
            <a:r>
              <a:rPr lang="es-ES" dirty="0">
                <a:latin typeface="Arial Black" panose="020B0A04020102020204" pitchFamily="34" charset="0"/>
              </a:rPr>
              <a:t> de evaluación </a:t>
            </a:r>
            <a:r>
              <a:rPr lang="es-ES" dirty="0" err="1">
                <a:latin typeface="Arial Black" panose="020B0A04020102020204" pitchFamily="34" charset="0"/>
              </a:rPr>
              <a:t>academica</a:t>
            </a:r>
            <a:r>
              <a:rPr lang="es-ES" dirty="0">
                <a:latin typeface="Arial Black" panose="020B0A04020102020204" pitchFamily="34" charset="0"/>
              </a:rPr>
              <a:t> o notas </a:t>
            </a:r>
          </a:p>
          <a:p>
            <a:pPr marL="0" indent="0">
              <a:buNone/>
            </a:pPr>
            <a:r>
              <a:rPr lang="es-ES" dirty="0">
                <a:latin typeface="Arial Black" panose="020B0A04020102020204" pitchFamily="34" charset="0"/>
              </a:rPr>
              <a:t>X biometría avanzada ( huellas rostro )</a:t>
            </a:r>
          </a:p>
          <a:p>
            <a:pPr marL="0" indent="0">
              <a:buNone/>
            </a:pPr>
            <a:r>
              <a:rPr lang="es-ES" dirty="0">
                <a:latin typeface="Arial Black" panose="020B0A04020102020204" pitchFamily="34" charset="0"/>
              </a:rPr>
              <a:t>X desarrollo de APP nativa para tiendas ( i os / Android )</a:t>
            </a:r>
          </a:p>
          <a:p>
            <a:pPr marL="0" indent="0">
              <a:buNone/>
            </a:pPr>
            <a:r>
              <a:rPr lang="es-ES" dirty="0">
                <a:latin typeface="Arial Black" panose="020B0A04020102020204" pitchFamily="34" charset="0"/>
              </a:rPr>
              <a:t>X control de asistencia perimetral físico al edificio </a:t>
            </a:r>
            <a:endParaRPr lang="es-CO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592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32A2F-28F6-A2B7-7043-1748D6011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err="1">
                <a:solidFill>
                  <a:schemeClr val="accent4"/>
                </a:solidFill>
                <a:latin typeface="Arial Black" panose="020B0A04020102020204" pitchFamily="34" charset="0"/>
              </a:rPr>
              <a:t>Optimizacion</a:t>
            </a:r>
            <a:r>
              <a:rPr lang="es-ES" dirty="0">
                <a:solidFill>
                  <a:schemeClr val="accent4"/>
                </a:solidFill>
                <a:latin typeface="Arial Black" panose="020B0A04020102020204" pitchFamily="34" charset="0"/>
              </a:rPr>
              <a:t> de procesos con </a:t>
            </a:r>
            <a:r>
              <a:rPr lang="es-ES" dirty="0" err="1">
                <a:solidFill>
                  <a:schemeClr val="accent4"/>
                </a:solidFill>
                <a:latin typeface="Arial Black" panose="020B0A04020102020204" pitchFamily="34" charset="0"/>
              </a:rPr>
              <a:t>attendx</a:t>
            </a:r>
            <a:r>
              <a:rPr lang="es-ES" dirty="0">
                <a:solidFill>
                  <a:schemeClr val="accent4"/>
                </a:solidFill>
                <a:latin typeface="Arial Black" panose="020B0A04020102020204" pitchFamily="34" charset="0"/>
              </a:rPr>
              <a:t> </a:t>
            </a:r>
            <a:endParaRPr lang="es-CO" dirty="0">
              <a:solidFill>
                <a:schemeClr val="accent4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56EB99-867F-219D-91D4-56FC246CB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s-ES" dirty="0">
                <a:latin typeface="Arial Black" panose="020B0A04020102020204" pitchFamily="34" charset="0"/>
              </a:rPr>
              <a:t>Proceso 1 : Registro de asistencia en aula </a:t>
            </a:r>
          </a:p>
          <a:p>
            <a:pPr marL="0" indent="0" algn="just">
              <a:buNone/>
            </a:pPr>
            <a:r>
              <a:rPr lang="es-ES" dirty="0">
                <a:latin typeface="Arial Black" panose="020B0A04020102020204" pitchFamily="34" charset="0"/>
              </a:rPr>
              <a:t>Se elimina la ruta ineficiente de pasar hojas físicas o rellenar archivos </a:t>
            </a:r>
            <a:r>
              <a:rPr lang="es-ES" dirty="0" err="1">
                <a:latin typeface="Arial Black" panose="020B0A04020102020204" pitchFamily="34" charset="0"/>
              </a:rPr>
              <a:t>ailados</a:t>
            </a:r>
            <a:r>
              <a:rPr lang="es-ES" dirty="0">
                <a:latin typeface="Arial Black" panose="020B0A04020102020204" pitchFamily="34" charset="0"/>
              </a:rPr>
              <a:t> , el instructor genera un código QR  </a:t>
            </a:r>
            <a:r>
              <a:rPr lang="es-ES" dirty="0" err="1">
                <a:latin typeface="Arial Black" panose="020B0A04020102020204" pitchFamily="34" charset="0"/>
              </a:rPr>
              <a:t>dinamico</a:t>
            </a:r>
            <a:r>
              <a:rPr lang="es-ES" dirty="0">
                <a:latin typeface="Arial Black" panose="020B0A04020102020204" pitchFamily="34" charset="0"/>
              </a:rPr>
              <a:t> y los aprendices registran su asistencia de formas autónoma e inmediatamente desde su dispositivo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s-ES" dirty="0">
                <a:latin typeface="Arial Black" panose="020B0A04020102020204" pitchFamily="34" charset="0"/>
              </a:rPr>
              <a:t>Proceso 2 : Seguimiento y gestión de novedades  </a:t>
            </a:r>
          </a:p>
          <a:p>
            <a:pPr marL="0" indent="0" algn="just">
              <a:buNone/>
            </a:pPr>
            <a:r>
              <a:rPr lang="es-ES" dirty="0">
                <a:latin typeface="Arial Black" panose="020B0A04020102020204" pitchFamily="34" charset="0"/>
              </a:rPr>
              <a:t>Se automatiza el flujo de excusas . El aprendiz cuenta con un panel personal para ver su historial y subir soportes documentales de inasistencias en un plano limite de 5 días hábiles . Permite que el instructor a pruebe o rechace con soporte trazable </a:t>
            </a:r>
            <a:endParaRPr lang="es-CO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876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1B697-5DE0-BB0C-EA0E-E3A7389D9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19027"/>
            <a:ext cx="10131425" cy="1456267"/>
          </a:xfrm>
        </p:spPr>
        <p:txBody>
          <a:bodyPr/>
          <a:lstStyle/>
          <a:p>
            <a:pPr algn="ctr"/>
            <a:r>
              <a:rPr lang="es-ES" dirty="0" err="1">
                <a:solidFill>
                  <a:schemeClr val="accent4"/>
                </a:solidFill>
                <a:latin typeface="Arial Black" panose="020B0A04020102020204" pitchFamily="34" charset="0"/>
              </a:rPr>
              <a:t>Planificacion</a:t>
            </a:r>
            <a:r>
              <a:rPr lang="es-ES" dirty="0">
                <a:solidFill>
                  <a:schemeClr val="accent4"/>
                </a:solidFill>
                <a:latin typeface="Arial Black" panose="020B0A04020102020204" pitchFamily="34" charset="0"/>
              </a:rPr>
              <a:t> y desarrollo </a:t>
            </a:r>
            <a:r>
              <a:rPr lang="es-ES" dirty="0" err="1">
                <a:solidFill>
                  <a:schemeClr val="accent4"/>
                </a:solidFill>
                <a:latin typeface="Arial Black" panose="020B0A04020102020204" pitchFamily="34" charset="0"/>
              </a:rPr>
              <a:t>tecnico</a:t>
            </a:r>
            <a:endParaRPr lang="es-CO" dirty="0">
              <a:solidFill>
                <a:schemeClr val="accent4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29EE85-857A-7ABA-92B0-FF86F317A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s-ES" dirty="0"/>
              <a:t> </a:t>
            </a:r>
            <a:r>
              <a:rPr lang="es-ES" dirty="0">
                <a:latin typeface="Arial Black" panose="020B0A04020102020204" pitchFamily="34" charset="0"/>
              </a:rPr>
              <a:t>estimación total de </a:t>
            </a:r>
            <a:r>
              <a:rPr lang="es-ES" dirty="0" err="1">
                <a:latin typeface="Arial Black" panose="020B0A04020102020204" pitchFamily="34" charset="0"/>
              </a:rPr>
              <a:t>exfuerzo</a:t>
            </a:r>
            <a:r>
              <a:rPr lang="es-ES" dirty="0">
                <a:latin typeface="Arial Black" panose="020B0A04020102020204" pitchFamily="34" charset="0"/>
              </a:rPr>
              <a:t> : 239 horas de ingeniería de </a:t>
            </a:r>
            <a:r>
              <a:rPr lang="es-ES" dirty="0" err="1">
                <a:latin typeface="Arial Black" panose="020B0A04020102020204" pitchFamily="34" charset="0"/>
              </a:rPr>
              <a:t>softwareb</a:t>
            </a:r>
            <a:r>
              <a:rPr lang="es-ES" dirty="0">
                <a:latin typeface="Arial Black" panose="020B0A04020102020204" pitchFamily="34" charset="0"/>
              </a:rPr>
              <a:t> </a:t>
            </a:r>
          </a:p>
          <a:p>
            <a:pPr marL="0" indent="0" algn="just">
              <a:buNone/>
            </a:pPr>
            <a:r>
              <a:rPr lang="es-ES" dirty="0">
                <a:latin typeface="Arial Black" panose="020B0A04020102020204" pitchFamily="34" charset="0"/>
              </a:rPr>
              <a:t>Estructura de requerimientos (  Historias de usuario 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s-ES" dirty="0">
                <a:latin typeface="Arial Black" panose="020B0A04020102020204" pitchFamily="34" charset="0"/>
              </a:rPr>
              <a:t>Administrador : creación segura de usuarios , carga masiva .asignación de fichas , jornadas y horarios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s-ES" dirty="0">
                <a:latin typeface="Arial Black" panose="020B0A04020102020204" pitchFamily="34" charset="0"/>
              </a:rPr>
              <a:t>Instructor : generación del 	QR único por clase . </a:t>
            </a:r>
            <a:r>
              <a:rPr lang="es-ES" dirty="0" err="1">
                <a:latin typeface="Arial Black" panose="020B0A04020102020204" pitchFamily="34" charset="0"/>
              </a:rPr>
              <a:t>Edicion</a:t>
            </a:r>
            <a:r>
              <a:rPr lang="es-ES" dirty="0">
                <a:latin typeface="Arial Black" panose="020B0A04020102020204" pitchFamily="34" charset="0"/>
              </a:rPr>
              <a:t> manual ante contingencia y revisión digital de excusas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s-ES" dirty="0">
                <a:latin typeface="Arial Black" panose="020B0A04020102020204" pitchFamily="34" charset="0"/>
              </a:rPr>
              <a:t>Modulo del Aprendiz Sena :  escaneo del QR para validación de presencia . Consulta de porcentaje acumulado y alertas de deserción </a:t>
            </a:r>
            <a:endParaRPr lang="es-CO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270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D1042-6899-9C67-BEC5-7CBC4C86D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VALIDACION Y CONCLUCION DEL PROYECTO 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CD6835-71DC-F0EF-2210-ED56EFAF7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s-ES" dirty="0" err="1"/>
              <a:t>Investigacion</a:t>
            </a:r>
            <a:r>
              <a:rPr lang="es-ES" dirty="0"/>
              <a:t> de campo realizada : el equipo implemento un instrumento digital de recolección de información ( encuesta / entrevista ) aplicado el 30 de julio de 2026 . Enfocado en capturar las problemáticas operativas directas de aprendices e instructores del CEET , esto permitió priorizar los requerimientos reales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O" b="1" dirty="0"/>
              <a:t>  link de la Encuesta :  </a:t>
            </a:r>
            <a:r>
              <a:rPr lang="es-CO" b="1" u="sng" dirty="0">
                <a:hlinkClick r:id="rId2"/>
              </a:rPr>
              <a:t>https://forms.gle/h433Y8UW6JSGbcrc6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pPr>
              <a:buFont typeface="Wingdings" panose="05000000000000000000" pitchFamily="2" charset="2"/>
              <a:buChar char="§"/>
            </a:pPr>
            <a:r>
              <a:rPr lang="es-ES" dirty="0"/>
              <a:t>Conclusión final : </a:t>
            </a:r>
          </a:p>
          <a:p>
            <a:pPr marL="0" indent="0">
              <a:buNone/>
            </a:pPr>
            <a:r>
              <a:rPr lang="es-ES" dirty="0" err="1"/>
              <a:t>Attendx</a:t>
            </a:r>
            <a:r>
              <a:rPr lang="es-ES" dirty="0"/>
              <a:t> resuelve una brecha institucional en el Sena . Al transformar un control manual en un sistema automatizado y transparente . Se protege el proceso formativo de los aprendices . Se reduce el trabajo </a:t>
            </a:r>
            <a:r>
              <a:rPr lang="es-ES" dirty="0" err="1"/>
              <a:t>innesesario</a:t>
            </a:r>
            <a:r>
              <a:rPr lang="es-ES" dirty="0"/>
              <a:t> de los instructores y se garantiza una trazabilidad impecable -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93843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88377-E2A4-E3B7-1D67-1A16F3DCA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081" y="213675"/>
            <a:ext cx="10131425" cy="1456267"/>
          </a:xfrm>
        </p:spPr>
        <p:txBody>
          <a:bodyPr/>
          <a:lstStyle/>
          <a:p>
            <a:pPr algn="ctr"/>
            <a:r>
              <a:rPr lang="es-ES" dirty="0">
                <a:solidFill>
                  <a:schemeClr val="accent4"/>
                </a:solidFill>
                <a:latin typeface="Arial Black" panose="020B0A04020102020204" pitchFamily="34" charset="0"/>
              </a:rPr>
              <a:t>Diagrama de proceso actual </a:t>
            </a:r>
            <a:endParaRPr lang="es-CO" dirty="0">
              <a:solidFill>
                <a:schemeClr val="accent4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E0232360-F18D-B7C0-3AFA-390E4765B1E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489435" y="1753386"/>
            <a:ext cx="8446417" cy="449501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6076957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{5275D154-950F-4F68-897A-DFE69F956AC4}TFb5ae2469-0bae-4978-b0e0-39dd046150ff15f2ba3a-9f0c70d1f475</Template>
  <TotalTime>179</TotalTime>
  <Words>778</Words>
  <Application>Microsoft Office PowerPoint</Application>
  <PresentationFormat>Panorámica</PresentationFormat>
  <Paragraphs>68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Arial</vt:lpstr>
      <vt:lpstr>Arial Black</vt:lpstr>
      <vt:lpstr>Bauhaus 93</vt:lpstr>
      <vt:lpstr>Calibri</vt:lpstr>
      <vt:lpstr>Calibri Light</vt:lpstr>
      <vt:lpstr>Wingdings</vt:lpstr>
      <vt:lpstr>Celestial</vt:lpstr>
      <vt:lpstr>ATtendx</vt:lpstr>
      <vt:lpstr>Sistema de control de asistencia para a prendices del sena me diante  QR</vt:lpstr>
      <vt:lpstr>INTEGRANTES </vt:lpstr>
      <vt:lpstr>LA PROBLEMÁTICA ACTUAL</vt:lpstr>
      <vt:lpstr>CONTEXTO Y PERSONAS AFECTADAS </vt:lpstr>
      <vt:lpstr>Impacto y perdida del proceso </vt:lpstr>
      <vt:lpstr>Pregunta problema </vt:lpstr>
      <vt:lpstr>La solución de ATTENDX y sus objetivos </vt:lpstr>
      <vt:lpstr>Alcance de la plataforma </vt:lpstr>
      <vt:lpstr>Optimizacion de procesos con attendx </vt:lpstr>
      <vt:lpstr>Planificacion y desarrollo tecnico</vt:lpstr>
      <vt:lpstr>VALIDACION Y CONCLUCION DEL PROYECTO </vt:lpstr>
      <vt:lpstr>Diagrama de proceso actual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6</cp:revision>
  <dcterms:created xsi:type="dcterms:W3CDTF">2026-09-21T18:43:50Z</dcterms:created>
  <dcterms:modified xsi:type="dcterms:W3CDTF">2026-09-21T21:43:35Z</dcterms:modified>
</cp:coreProperties>
</file>