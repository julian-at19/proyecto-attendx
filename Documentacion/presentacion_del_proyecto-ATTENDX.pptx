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Work Sans Light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5iHDh5ooLas78HRiSwoD+63Is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bold.fntdata"/><Relationship Id="rId22" Type="http://schemas.openxmlformats.org/officeDocument/2006/relationships/font" Target="fonts/WorkSansLight-boldItalic.fntdata"/><Relationship Id="rId21" Type="http://schemas.openxmlformats.org/officeDocument/2006/relationships/font" Target="fonts/WorkSansLight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Light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4298a12fd6dc566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14298a12fd6dc566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4298a12fd6dc566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14298a12fd6dc566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4298a12fd6dc566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14298a12fd6dc566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14298a12fd6dc56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14298a12fd6dc56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4298a12fd6dc566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14298a12fd6dc566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4298a12fd6dc566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14298a12fd6dc566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14298a12fd6dc566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14298a12fd6dc566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14298a12fd6dc566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14298a12fd6dc566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4298a12fd6dc566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h14298a12fd6dc566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14298a12fd6dc566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14298a12fd6dc566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hyperlink" Target="https://drive.google.com/drive/folders/1X1-2Caux-Ta_l3UmLlgvnNNuZnOe1XN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hyperlink" Target="https://drive.google.com/drive/folders/1X1-2Caux-Ta_l3UmLlgvnNNuZnOe1XN0" TargetMode="External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hyperlink" Target="https://drive.google.com/drive/folders/1X1-2Caux-Ta_l3UmLlgvnNNuZnOe1XN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2854275" y="1199950"/>
            <a:ext cx="7329900" cy="193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​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ATTENDX​</a:t>
            </a:r>
            <a:r>
              <a:rPr b="1" lang="es-C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421575" y="3389950"/>
            <a:ext cx="44553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</a:rPr>
              <a:t>INTEGRANTES​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chemeClr val="dk1"/>
                </a:solidFill>
              </a:rPr>
              <a:t>​</a:t>
            </a:r>
            <a:endParaRPr b="1"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Leidy Tatiana vega ​</a:t>
            </a:r>
            <a:endParaRPr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Edinson fabian cabrera​</a:t>
            </a:r>
            <a:endParaRPr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Kevin hernan rodriguez orguela​</a:t>
            </a:r>
            <a:endParaRPr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Juan David rodriguez Ochoa ​</a:t>
            </a:r>
            <a:endParaRPr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Julian jaiyith avila torres ​</a:t>
            </a:r>
            <a:endParaRPr sz="1300">
              <a:solidFill>
                <a:schemeClr val="dk1"/>
              </a:solidFill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s-CO" sz="1300">
                <a:solidFill>
                  <a:schemeClr val="dk1"/>
                </a:solidFill>
              </a:rPr>
              <a:t>Jordan joya​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3238789" y="1285175"/>
            <a:ext cx="60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90BA4C"/>
                </a:solidFill>
              </a:rPr>
              <a:t>NOMBRE DEL PROYECTO</a:t>
            </a:r>
            <a:r>
              <a:rPr lang="es-CO" sz="3600">
                <a:solidFill>
                  <a:schemeClr val="dk1"/>
                </a:solidFill>
                <a:highlight>
                  <a:srgbClr val="F5F5F5"/>
                </a:highlight>
              </a:rPr>
              <a:t>​</a:t>
            </a:r>
            <a:r>
              <a:rPr lang="es-CO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109" name="Google Shape;109;p2"/>
          <p:cNvCxnSpPr/>
          <p:nvPr/>
        </p:nvCxnSpPr>
        <p:spPr>
          <a:xfrm>
            <a:off x="5157474" y="4812272"/>
            <a:ext cx="1736100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0" name="Google Shape;110;p2"/>
          <p:cNvSpPr txBox="1"/>
          <p:nvPr/>
        </p:nvSpPr>
        <p:spPr>
          <a:xfrm>
            <a:off x="1432850" y="5095475"/>
            <a:ext cx="922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2700">
                <a:solidFill>
                  <a:srgbClr val="90BA4C"/>
                </a:solidFill>
              </a:rPr>
              <a:t>Sistema de control de asistencia para aprendices del sena mediante  QR</a:t>
            </a:r>
            <a:r>
              <a:rPr i="1" lang="es-CO" sz="2700">
                <a:solidFill>
                  <a:schemeClr val="dk1"/>
                </a:solidFill>
              </a:rPr>
              <a:t>​</a:t>
            </a:r>
            <a:r>
              <a:rPr i="1" lang="es-CO" sz="400">
                <a:solidFill>
                  <a:schemeClr val="dk1"/>
                </a:solidFill>
              </a:rPr>
              <a:t> </a:t>
            </a:r>
            <a:endParaRPr i="1" sz="500"/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150" y="2312200"/>
            <a:ext cx="2402751" cy="240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99126" y="1947750"/>
            <a:ext cx="4599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registro de asistencia en el SENA se realiza de forma manual mediante planillas físicas o archivos Excel, generando errores, pérdida de información y falta de seguimiento oportuno.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Contexto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i="1"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 generar un impacto</a:t>
            </a:r>
            <a:endParaRPr b="1" i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Riesgo de deserción por inasistencias no detectadas.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Alta carga administrativa.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Dificultad para generar reportes y auditorías.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Falta de trazabilidad en justificaciones.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02223" y="609100"/>
            <a:ext cx="459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LA PROBLEMÁTICA ACTUAL</a:t>
            </a:r>
            <a:r>
              <a:rPr b="1" lang="es-CO" sz="2800">
                <a:solidFill>
                  <a:schemeClr val="dk1"/>
                </a:solidFill>
              </a:rPr>
              <a:t>​</a:t>
            </a:r>
            <a:r>
              <a:rPr b="1" lang="es-CO" sz="300">
                <a:solidFill>
                  <a:schemeClr val="dk1"/>
                </a:solidFill>
              </a:rPr>
              <a:t> </a:t>
            </a:r>
            <a:endParaRPr b="1" sz="600"/>
          </a:p>
        </p:txBody>
      </p:sp>
      <p:pic>
        <p:nvPicPr>
          <p:cNvPr id="119" name="Google Shape;1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550" y="925750"/>
            <a:ext cx="45148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5780025" y="3943525"/>
            <a:ext cx="5033400" cy="3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9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problema.</a:t>
            </a:r>
            <a:endParaRPr b="1" sz="19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¿Cómo AttendX permite al SENA automatizar el control de asistencia de sus aprendices mediante código QR para reducir las fallas no detectadas, alertar oportunamente inasistencias y facilitar la trazabilidad administrativa para </a:t>
            </a:r>
            <a:r>
              <a:rPr lang="es-CO" sz="15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Instructores</a:t>
            </a:r>
            <a:r>
              <a:rPr lang="es-CO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el área de </a:t>
            </a:r>
            <a:r>
              <a:rPr lang="es-CO" sz="15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Bienestar al Aprendiz</a:t>
            </a:r>
            <a:r>
              <a:rPr lang="es-CO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y la </a:t>
            </a:r>
            <a:r>
              <a:rPr lang="es-CO" sz="15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Coordinación Académica</a:t>
            </a:r>
            <a:r>
              <a:rPr lang="es-CO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?.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14298a12fd6dc566_0_37"/>
          <p:cNvSpPr/>
          <p:nvPr/>
        </p:nvSpPr>
        <p:spPr>
          <a:xfrm>
            <a:off x="4625981" y="127665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h14298a12fd6dc566_0_37"/>
          <p:cNvSpPr txBox="1"/>
          <p:nvPr/>
        </p:nvSpPr>
        <p:spPr>
          <a:xfrm>
            <a:off x="569475" y="2286725"/>
            <a:ext cx="4874400" cy="58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Desarrollar un sistema de control de asistencia para aprendices del SENA que permita registrar, monitorear y alertar el porcentaje de asistencia por ficha mediante marcación por código QR, en un período de 12 meses, con el fin de reducir en un 30% los casos de pérdida de proceso por inasistencia no detectada y disminuir en un 40% la carga administrativa del instructor en el registro de asistencia.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7" name="Google Shape;127;h14298a12fd6dc566_0_37"/>
          <p:cNvSpPr txBox="1"/>
          <p:nvPr/>
        </p:nvSpPr>
        <p:spPr>
          <a:xfrm>
            <a:off x="3376650" y="941775"/>
            <a:ext cx="54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OBJETIVO GENERAL</a:t>
            </a:r>
            <a:endParaRPr b="1" sz="2800">
              <a:solidFill>
                <a:srgbClr val="90BA4C"/>
              </a:solidFill>
            </a:endParaRPr>
          </a:p>
        </p:txBody>
      </p:sp>
      <p:pic>
        <p:nvPicPr>
          <p:cNvPr id="128" name="Google Shape;128;h14298a12fd6dc566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575" y="2157575"/>
            <a:ext cx="5719526" cy="367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4298a12fd6dc566_0_127"/>
          <p:cNvSpPr/>
          <p:nvPr/>
        </p:nvSpPr>
        <p:spPr>
          <a:xfrm>
            <a:off x="4625981" y="127665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14298a12fd6dc566_0_127"/>
          <p:cNvSpPr txBox="1"/>
          <p:nvPr/>
        </p:nvSpPr>
        <p:spPr>
          <a:xfrm>
            <a:off x="246600" y="2157575"/>
            <a:ext cx="3890700" cy="5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1.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Implementar un módulo de marcación de asistencia mediante código QR único por aprendiz.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Desarrollar la gestión de usuarios con roles diferenciados: administrador, instructor y aprendiz.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3.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Configurar el módulo de fichas, programas de formación y horarios por jornada.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4.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Implementar alertas automáticas cuando un aprendiz acumule fallas críticas o baje del 80% de asistencia.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5" name="Google Shape;135;h14298a12fd6dc566_0_127"/>
          <p:cNvSpPr txBox="1"/>
          <p:nvPr/>
        </p:nvSpPr>
        <p:spPr>
          <a:xfrm>
            <a:off x="3376650" y="941775"/>
            <a:ext cx="54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OBJETIVOS ESPECÍFICOS</a:t>
            </a:r>
            <a:endParaRPr b="1" sz="2800">
              <a:solidFill>
                <a:srgbClr val="90BA4C"/>
              </a:solidFill>
            </a:endParaRPr>
          </a:p>
        </p:txBody>
      </p:sp>
      <p:pic>
        <p:nvPicPr>
          <p:cNvPr id="136" name="Google Shape;136;h14298a12fd6dc566_0_127"/>
          <p:cNvPicPr preferRelativeResize="0"/>
          <p:nvPr/>
        </p:nvPicPr>
        <p:blipFill rotWithShape="1">
          <a:blip r:embed="rId4">
            <a:alphaModFix/>
          </a:blip>
          <a:srcRect b="0" l="8555" r="8704" t="0"/>
          <a:stretch/>
        </p:blipFill>
        <p:spPr>
          <a:xfrm>
            <a:off x="4403100" y="2304975"/>
            <a:ext cx="3385776" cy="3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h14298a12fd6dc566_0_127"/>
          <p:cNvSpPr txBox="1"/>
          <p:nvPr/>
        </p:nvSpPr>
        <p:spPr>
          <a:xfrm>
            <a:off x="7596600" y="2157575"/>
            <a:ext cx="3890700" cy="58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5.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Desarrollar el panel personal del aprendiz con historial de asistencia y porcentaje acumulado.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6.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Implementar el módulo de justificación digital de fallas con flujo de aprobación por instructor.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7.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Generar reportes automáticos de asistencia por ficha, aprendiz y período exportables en PDF o Excel.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4.</a:t>
            </a:r>
            <a:r>
              <a:rPr lang="es-CO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</a:t>
            </a:r>
            <a:r>
              <a:rPr lang="es-CO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Desarrollar un dashboard institucional con estadísticas de cumplimiento por ficha y jornada en tiempo real.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28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14298a12fd6dc566_0_51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14298a12fd6dc566_0_51"/>
          <p:cNvSpPr txBox="1"/>
          <p:nvPr/>
        </p:nvSpPr>
        <p:spPr>
          <a:xfrm>
            <a:off x="413525" y="1947750"/>
            <a:ext cx="4515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Marcación de asistencia con QR.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Gestión de usuarios y roles.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Configuración de fichas, programas y horarios.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Panel del aprendiz e historial de asistencia.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Justificación digital de inasistencias.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Alertas por asistencia menor al 80 %.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Dashboard y estadísticas en tiempo real.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Muro de comunicados.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Desarrollo e implementación en 12 meses.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h14298a12fd6dc566_0_51"/>
          <p:cNvSpPr txBox="1"/>
          <p:nvPr/>
        </p:nvSpPr>
        <p:spPr>
          <a:xfrm>
            <a:off x="371373" y="926125"/>
            <a:ext cx="459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r>
              <a:rPr b="1" lang="es-CO" sz="2800">
                <a:solidFill>
                  <a:srgbClr val="90BA4C"/>
                </a:solidFill>
              </a:rPr>
              <a:t>INCLUSIONES</a:t>
            </a:r>
            <a:endParaRPr b="1" sz="2800">
              <a:solidFill>
                <a:srgbClr val="90BA4C"/>
              </a:solidFill>
            </a:endParaRPr>
          </a:p>
        </p:txBody>
      </p:sp>
      <p:sp>
        <p:nvSpPr>
          <p:cNvPr id="145" name="Google Shape;145;h14298a12fd6dc566_0_51"/>
          <p:cNvSpPr/>
          <p:nvPr/>
        </p:nvSpPr>
        <p:spPr>
          <a:xfrm>
            <a:off x="6356268" y="14050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14298a12fd6dc566_0_51"/>
          <p:cNvSpPr txBox="1"/>
          <p:nvPr/>
        </p:nvSpPr>
        <p:spPr>
          <a:xfrm>
            <a:off x="6163998" y="1024600"/>
            <a:ext cx="45999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r>
              <a:rPr b="1" lang="es-CO" sz="2800">
                <a:solidFill>
                  <a:srgbClr val="90BA4C"/>
                </a:solidFill>
              </a:rPr>
              <a:t>EXCLUSIONES</a:t>
            </a:r>
            <a:endParaRPr b="1" sz="600"/>
          </a:p>
        </p:txBody>
      </p:sp>
      <p:sp>
        <p:nvSpPr>
          <p:cNvPr id="147" name="Google Shape;147;h14298a12fd6dc566_0_51"/>
          <p:cNvSpPr txBox="1"/>
          <p:nvPr/>
        </p:nvSpPr>
        <p:spPr>
          <a:xfrm>
            <a:off x="5933600" y="1920600"/>
            <a:ext cx="4830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Integración con SOFIA Plus.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Evaluaciones, calificaciones y competencias.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Biometría (huella o reconocimiento facial).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Aplicación móvil nativa.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Gestión de nómina o apoyos económicos.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Control de acceso físico a instalaciones.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●"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Automatización de procesos disciplinarios.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4298a12fd6dc566_0_25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14298a12fd6dc566_0_25"/>
          <p:cNvSpPr txBox="1"/>
          <p:nvPr/>
        </p:nvSpPr>
        <p:spPr>
          <a:xfrm>
            <a:off x="311825" y="2067425"/>
            <a:ext cx="4949700" cy="3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El control de asistencia es fundamental para garantizar la continuidad de la formación en el SENA. Actualmente, el registro manual dificulta el seguimiento y no genera alertas oportunas. Por ello, se propone automatizar la asistencia mediante un sistema QR que </a:t>
            </a: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permite</a:t>
            </a:r>
            <a:r>
              <a:rPr lang="es-CO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controlar, consultar y detectar riesgos de inasistencia a tiempo.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54" name="Google Shape;154;h14298a12fd6dc566_0_25"/>
          <p:cNvSpPr txBox="1"/>
          <p:nvPr/>
        </p:nvSpPr>
        <p:spPr>
          <a:xfrm>
            <a:off x="900148" y="944075"/>
            <a:ext cx="459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JUSTIFICACIÓN</a:t>
            </a:r>
            <a:r>
              <a:rPr b="1" lang="es-CO" sz="2800">
                <a:solidFill>
                  <a:srgbClr val="90BA4C"/>
                </a:solidFill>
              </a:rPr>
              <a:t> </a:t>
            </a:r>
            <a:endParaRPr b="1" sz="600"/>
          </a:p>
        </p:txBody>
      </p:sp>
      <p:pic>
        <p:nvPicPr>
          <p:cNvPr id="155" name="Google Shape;155;h14298a12fd6dc566_0_25"/>
          <p:cNvPicPr preferRelativeResize="0"/>
          <p:nvPr/>
        </p:nvPicPr>
        <p:blipFill rotWithShape="1">
          <a:blip r:embed="rId4">
            <a:alphaModFix/>
          </a:blip>
          <a:srcRect b="12231" l="12312" r="4556" t="3416"/>
          <a:stretch/>
        </p:blipFill>
        <p:spPr>
          <a:xfrm>
            <a:off x="6348425" y="1321925"/>
            <a:ext cx="4153075" cy="42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4298a12fd6dc566_0_69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14298a12fd6dc566_0_69"/>
          <p:cNvSpPr txBox="1"/>
          <p:nvPr/>
        </p:nvSpPr>
        <p:spPr>
          <a:xfrm>
            <a:off x="900150" y="879525"/>
            <a:ext cx="88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ENCUESTAS A USUARIOS DEL SISTEMA ACTUAL</a:t>
            </a:r>
            <a:r>
              <a:rPr b="1" lang="es-CO" sz="2800">
                <a:solidFill>
                  <a:srgbClr val="90BA4C"/>
                </a:solidFill>
              </a:rPr>
              <a:t> </a:t>
            </a:r>
            <a:endParaRPr b="1" sz="600"/>
          </a:p>
        </p:txBody>
      </p:sp>
      <p:pic>
        <p:nvPicPr>
          <p:cNvPr id="162" name="Google Shape;162;h14298a12fd6dc566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150" y="1888900"/>
            <a:ext cx="10001250" cy="42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14298a12fd6dc566_0_79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14298a12fd6dc566_0_79"/>
          <p:cNvSpPr txBox="1"/>
          <p:nvPr/>
        </p:nvSpPr>
        <p:spPr>
          <a:xfrm>
            <a:off x="900150" y="911825"/>
            <a:ext cx="88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ENCUESTAS A USUARIOS DEL SISTEMA ACTUAL </a:t>
            </a:r>
            <a:endParaRPr b="1" sz="600"/>
          </a:p>
        </p:txBody>
      </p:sp>
      <p:sp>
        <p:nvSpPr>
          <p:cNvPr id="169" name="Google Shape;169;h14298a12fd6dc566_0_79"/>
          <p:cNvSpPr txBox="1"/>
          <p:nvPr/>
        </p:nvSpPr>
        <p:spPr>
          <a:xfrm>
            <a:off x="565050" y="2050300"/>
            <a:ext cx="10722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2000">
                <a:latin typeface="Work Sans"/>
                <a:ea typeface="Work Sans"/>
                <a:cs typeface="Work Sans"/>
                <a:sym typeface="Work Sans"/>
              </a:rPr>
              <a:t>CONCLUSIÓN</a:t>
            </a:r>
            <a:endParaRPr b="1" i="1" sz="20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latin typeface="Work Sans"/>
                <a:ea typeface="Work Sans"/>
                <a:cs typeface="Work Sans"/>
                <a:sym typeface="Work Sans"/>
              </a:rPr>
              <a:t>El diagnóstico realizado evidenció que el control manual de asistencia en el centro de formación genera ineficiencia operativa y un alto riesgo académico por inconsistencias en los registros, afectando principalmente a la jornada nocturna (83.3%). Para atender esta problemática, se formuló el diseño del sistema digital AttendX, una solución orientada a automatizar el llamado a lista mediante códigos QR e interfaces multiplataforma (requeridas por el 82% de los usuarios). El principal aporte de este proyecto es la centralización y visibilidad inmediata de los historiales de asistencia, reduciendo el tiempo perdido en aula y facilitando un seguimiento.</a:t>
            </a:r>
            <a:endParaRPr sz="17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00">
                <a:latin typeface="Work Sans"/>
                <a:ea typeface="Work Sans"/>
                <a:cs typeface="Work Sans"/>
                <a:sym typeface="Work Sans"/>
              </a:rPr>
              <a:t>oportuno.</a:t>
            </a:r>
            <a:endParaRPr sz="17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4298a12fd6dc566_0_86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14298a12fd6dc566_0_86"/>
          <p:cNvSpPr txBox="1"/>
          <p:nvPr/>
        </p:nvSpPr>
        <p:spPr>
          <a:xfrm>
            <a:off x="900150" y="911825"/>
            <a:ext cx="88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DIAGRAMA DE PROCESO ACTUAL BPM.</a:t>
            </a:r>
            <a:r>
              <a:rPr b="1" lang="es-CO" sz="2800">
                <a:solidFill>
                  <a:srgbClr val="90BA4C"/>
                </a:solidFill>
              </a:rPr>
              <a:t> </a:t>
            </a:r>
            <a:endParaRPr b="1" sz="600"/>
          </a:p>
        </p:txBody>
      </p:sp>
      <p:pic>
        <p:nvPicPr>
          <p:cNvPr id="176" name="Google Shape;176;h14298a12fd6dc566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9625" y="1986600"/>
            <a:ext cx="8925924" cy="4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14298a12fd6dc566_0_94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14298a12fd6dc566_0_94"/>
          <p:cNvSpPr txBox="1"/>
          <p:nvPr/>
        </p:nvSpPr>
        <p:spPr>
          <a:xfrm>
            <a:off x="401700" y="512250"/>
            <a:ext cx="1138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HISTORIAS DE USUARIO PARA EL NUEVO SISTEMA PROPUESTO.</a:t>
            </a:r>
            <a:endParaRPr b="1" sz="2800">
              <a:solidFill>
                <a:srgbClr val="90BA4C"/>
              </a:solidFill>
            </a:endParaRPr>
          </a:p>
        </p:txBody>
      </p:sp>
      <p:pic>
        <p:nvPicPr>
          <p:cNvPr id="183" name="Google Shape;183;h14298a12fd6dc566_0_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150" y="1792075"/>
            <a:ext cx="6448626" cy="4252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h14298a12fd6dc566_0_94"/>
          <p:cNvSpPr txBox="1"/>
          <p:nvPr/>
        </p:nvSpPr>
        <p:spPr>
          <a:xfrm>
            <a:off x="7477950" y="5512200"/>
            <a:ext cx="767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u="sng">
                <a:solidFill>
                  <a:schemeClr val="hlink"/>
                </a:solidFill>
                <a:hlinkClick r:id="rId5"/>
              </a:rPr>
              <a:t>SISTEMA DE ASISTENCIA - Google Drive</a:t>
            </a:r>
            <a:r>
              <a:rPr lang="es-CO" sz="11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4298a12fd6dc566_0_116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14298a12fd6dc566_0_116"/>
          <p:cNvSpPr txBox="1"/>
          <p:nvPr/>
        </p:nvSpPr>
        <p:spPr>
          <a:xfrm>
            <a:off x="803400" y="948150"/>
            <a:ext cx="113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DIAGRAMA DE CASO DE USO</a:t>
            </a:r>
            <a:endParaRPr b="1" sz="2800">
              <a:solidFill>
                <a:srgbClr val="90BA4C"/>
              </a:solidFill>
            </a:endParaRPr>
          </a:p>
        </p:txBody>
      </p:sp>
      <p:pic>
        <p:nvPicPr>
          <p:cNvPr id="191" name="Google Shape;191;h14298a12fd6dc566_0_116"/>
          <p:cNvPicPr preferRelativeResize="0"/>
          <p:nvPr/>
        </p:nvPicPr>
        <p:blipFill rotWithShape="1">
          <a:blip r:embed="rId4">
            <a:alphaModFix/>
          </a:blip>
          <a:srcRect b="3310" l="10190" r="-10190" t="-3310"/>
          <a:stretch/>
        </p:blipFill>
        <p:spPr>
          <a:xfrm>
            <a:off x="7526350" y="748313"/>
            <a:ext cx="3485375" cy="536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h14298a12fd6dc566_0_116"/>
          <p:cNvSpPr txBox="1"/>
          <p:nvPr/>
        </p:nvSpPr>
        <p:spPr>
          <a:xfrm>
            <a:off x="7381075" y="2363500"/>
            <a:ext cx="483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14298a12fd6dc566_0_116"/>
          <p:cNvSpPr txBox="1"/>
          <p:nvPr/>
        </p:nvSpPr>
        <p:spPr>
          <a:xfrm>
            <a:off x="471425" y="5906200"/>
            <a:ext cx="767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u="sng">
                <a:solidFill>
                  <a:schemeClr val="hlink"/>
                </a:solidFill>
                <a:hlinkClick r:id="rId5"/>
              </a:rPr>
              <a:t>SISTEMA DE ASISTENCIA - Google Drive</a:t>
            </a:r>
            <a:r>
              <a:rPr lang="es-CO" sz="11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h14298a12fd6dc566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7075" y="1947613"/>
            <a:ext cx="5210652" cy="35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14298a12fd6dc566_0_104"/>
          <p:cNvSpPr/>
          <p:nvPr/>
        </p:nvSpPr>
        <p:spPr>
          <a:xfrm>
            <a:off x="900143" y="1308702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h14298a12fd6dc566_0_104"/>
          <p:cNvSpPr txBox="1"/>
          <p:nvPr/>
        </p:nvSpPr>
        <p:spPr>
          <a:xfrm>
            <a:off x="803400" y="948150"/>
            <a:ext cx="113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90BA4C"/>
                </a:solidFill>
              </a:rPr>
              <a:t>ESTIMACIÓN</a:t>
            </a:r>
            <a:r>
              <a:rPr b="1" lang="es-CO" sz="2800">
                <a:solidFill>
                  <a:srgbClr val="90BA4C"/>
                </a:solidFill>
              </a:rPr>
              <a:t> DE COSTOS</a:t>
            </a:r>
            <a:endParaRPr b="1" sz="2800">
              <a:solidFill>
                <a:srgbClr val="90BA4C"/>
              </a:solidFill>
            </a:endParaRPr>
          </a:p>
        </p:txBody>
      </p:sp>
      <p:sp>
        <p:nvSpPr>
          <p:cNvPr id="201" name="Google Shape;201;h14298a12fd6dc566_0_104"/>
          <p:cNvSpPr txBox="1"/>
          <p:nvPr/>
        </p:nvSpPr>
        <p:spPr>
          <a:xfrm>
            <a:off x="7381075" y="2363500"/>
            <a:ext cx="483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h14298a12fd6dc566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425" y="1752677"/>
            <a:ext cx="7076275" cy="479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h14298a12fd6dc566_0_104"/>
          <p:cNvSpPr txBox="1"/>
          <p:nvPr/>
        </p:nvSpPr>
        <p:spPr>
          <a:xfrm>
            <a:off x="6783750" y="6406675"/>
            <a:ext cx="767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u="sng">
                <a:solidFill>
                  <a:schemeClr val="hlink"/>
                </a:solidFill>
                <a:hlinkClick r:id="rId5"/>
              </a:rPr>
              <a:t>SISTEMA DE ASISTENCIA - Google Drive</a:t>
            </a:r>
            <a:r>
              <a:rPr lang="es-CO" sz="11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08" name="Google Shape;208;p7"/>
          <p:cNvPicPr preferRelativeResize="0"/>
          <p:nvPr/>
        </p:nvPicPr>
        <p:blipFill rotWithShape="1">
          <a:blip r:embed="rId3">
            <a:alphaModFix/>
          </a:blip>
          <a:srcRect b="25096" l="15519" r="15229" t="6166"/>
          <a:stretch/>
        </p:blipFill>
        <p:spPr>
          <a:xfrm>
            <a:off x="0" y="25500"/>
            <a:ext cx="12192001" cy="6807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